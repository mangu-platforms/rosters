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74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400" kern="0" dirty="0">
                <a:solidFill>
                  <a:srgbClr val="00C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AETHER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Payroll that runs itself.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D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AI Workforce Operating System — not another payroll engine.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8D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for 50–500 employee companies in healthcare, construction,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8D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manufacturing, logistics, and multi-unit franchises.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754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$16B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5166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HR &amp; payroll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B0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software,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4754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$5.9B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0" y="5166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 EWA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B0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market,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4754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50–500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309360" y="5166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wedge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B0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switching is real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0" y="4754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wedges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0" y="5166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· Tax · EWA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B0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Compliance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build-out  ·  August 2026  ·  Not a live company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AETHER  ·  CONFIDENTIAL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/ 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thesis: stop selling payroll. Sell outcomes.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91440" cy="1078992"/>
          </a:xfrm>
          <a:prstGeom prst="rect">
            <a:avLst/>
          </a:prstGeom>
          <a:solidFill>
            <a:srgbClr val="00C2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7218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Payroll is table stakes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ADP, Paychex, Gusto, Rippling, Workday, OnPay, and Warp already process pay reasonably well. A better engine is not a company.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14600"/>
            <a:ext cx="91440" cy="1078992"/>
          </a:xfrm>
          <a:prstGeom prst="rect">
            <a:avLst/>
          </a:prstGeom>
          <a:solidFill>
            <a:srgbClr val="00C24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6090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Buyers care about four outcomes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97180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money. Reduce turnover. Improve cash flow. Eliminate admin. Everything else is feature theater.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703320"/>
            <a:ext cx="91440" cy="1078992"/>
          </a:xfrm>
          <a:prstGeom prst="rect">
            <a:avLst/>
          </a:prstGeom>
          <a:solidFill>
            <a:srgbClr val="00C244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84962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category to own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Workforce Operations — payroll becomes invisible while the system runs compliance, labor cost, wellness, and hiring.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892040"/>
            <a:ext cx="91440" cy="1078992"/>
          </a:xfrm>
          <a:prstGeom prst="rect">
            <a:avLst/>
          </a:prstGeom>
          <a:solidFill>
            <a:srgbClr val="00C244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03834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question that expands TAM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5349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Incumbents answer “how much should we pay?” Aether answers “how should we build, manage, optimize, and retain this workforce?”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AETHER  ·  CONFIDENTIAL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/ 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50–500 employee operators actually feel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727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tax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payroll admin still babysits every run. Anomalies show up after money moves. Multi-state OT, prevailing wage, and leave rules are tribal knowledge.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5727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1901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Rear-view finance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3317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 report last period. CFOs cannot see next payroll, quarterly tax, healthcare trend, or the true cost of three more technicians.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5727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66760" y="1901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Turnover as a cash event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66760" y="23317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Frontline industries bleed people. Earned-wage stress and opaque benefits drive exits that cost 50–200% of salary to replace.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502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4279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Money left on the table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470916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WOTC, state hiring credits, training credits, and R&amp;D payroll offsets exist. Most mid-market firms never claim them.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97680" y="37490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9502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4279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Compliance fear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26280" y="470916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NJ wage changes, local predictive scheduling, ACA tracking, and union rules update faster than HR can read. Penalties are the product.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38160" y="37490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39502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66760" y="4279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Switching friction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66760" y="470916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Enterprises will not leave ADP. Sub-20 shops stay on Gusto. The 50–500 band feels the pain and can still move in one quarter.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AETHER  ·  CONFIDENTIAL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/ 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Category: Autonomous Workforce Operations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Payroll is one module. The product is the operating system around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20240"/>
            <a:ext cx="256032" cy="256032"/>
          </a:xfrm>
          <a:prstGeom prst="ellipse">
            <a:avLst/>
          </a:prstGeom>
          <a:solidFill>
            <a:srgbClr val="00C244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31343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Payroll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27432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itself. Human approves exceptions.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61488" y="169164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4368" y="1920240"/>
            <a:ext cx="256032" cy="256032"/>
          </a:xfrm>
          <a:prstGeom prst="ellipse">
            <a:avLst/>
          </a:prstGeom>
          <a:solidFill>
            <a:srgbClr val="00C244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231343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Compliance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26080" y="27432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Federal, state, local rules applied continuously.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65776" y="169164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48656" y="1920240"/>
            <a:ext cx="256032" cy="256032"/>
          </a:xfrm>
          <a:prstGeom prst="ellipse">
            <a:avLst/>
          </a:prstGeom>
          <a:solidFill>
            <a:srgbClr val="00C244"/>
          </a:solidFill>
          <a:ln/>
        </p:spPr>
      </p:sp>
      <p:sp>
        <p:nvSpPr>
          <p:cNvPr id="16" name="Text 14"/>
          <p:cNvSpPr/>
          <p:nvPr/>
        </p:nvSpPr>
        <p:spPr>
          <a:xfrm>
            <a:off x="5230368" y="231343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Benefits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30368" y="27432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choice and contribution optimization.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70064" y="169164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52944" y="1920240"/>
            <a:ext cx="256032" cy="256032"/>
          </a:xfrm>
          <a:prstGeom prst="ellipse">
            <a:avLst/>
          </a:prstGeom>
          <a:solidFill>
            <a:srgbClr val="00C244"/>
          </a:solidFill>
          <a:ln/>
        </p:spPr>
      </p:sp>
      <p:sp>
        <p:nvSpPr>
          <p:cNvPr id="20" name="Text 18"/>
          <p:cNvSpPr/>
          <p:nvPr/>
        </p:nvSpPr>
        <p:spPr>
          <a:xfrm>
            <a:off x="7534656" y="231343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534656" y="27432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Schedules mapped to OT, premiums, CBAs.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74352" y="169164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57232" y="1920240"/>
            <a:ext cx="256032" cy="256032"/>
          </a:xfrm>
          <a:prstGeom prst="ellipse">
            <a:avLst/>
          </a:prstGeom>
          <a:solidFill>
            <a:srgbClr val="00C244"/>
          </a:solidFill>
          <a:ln/>
        </p:spPr>
      </p:sp>
      <p:sp>
        <p:nvSpPr>
          <p:cNvPr id="24" name="Text 22"/>
          <p:cNvSpPr/>
          <p:nvPr/>
        </p:nvSpPr>
        <p:spPr>
          <a:xfrm>
            <a:off x="9838944" y="231343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Wellness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838944" y="27432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 on pay data, not generic advice.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88620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114800"/>
            <a:ext cx="256032" cy="256032"/>
          </a:xfrm>
          <a:prstGeom prst="ellipse">
            <a:avLst/>
          </a:prstGeom>
          <a:solidFill>
            <a:srgbClr val="00C244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" y="45079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Earned pay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1792" y="49377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Employer-funded liquidity, not a payday loan.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61488" y="388620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44368" y="4114800"/>
            <a:ext cx="256032" cy="256032"/>
          </a:xfrm>
          <a:prstGeom prst="ellipse">
            <a:avLst/>
          </a:prstGeom>
          <a:solidFill>
            <a:srgbClr val="00C244"/>
          </a:solidFill>
          <a:ln/>
        </p:spPr>
      </p:sp>
      <p:sp>
        <p:nvSpPr>
          <p:cNvPr id="32" name="Text 30"/>
          <p:cNvSpPr/>
          <p:nvPr/>
        </p:nvSpPr>
        <p:spPr>
          <a:xfrm>
            <a:off x="2926080" y="45079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Recruiting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926080" y="49377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Headcount and ranges from live payroll truth.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065776" y="388620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48656" y="4114800"/>
            <a:ext cx="256032" cy="256032"/>
          </a:xfrm>
          <a:prstGeom prst="ellipse">
            <a:avLst/>
          </a:prstGeom>
          <a:solidFill>
            <a:srgbClr val="00C244"/>
          </a:solidFill>
          <a:ln/>
        </p:spPr>
      </p:sp>
      <p:sp>
        <p:nvSpPr>
          <p:cNvPr id="36" name="Text 34"/>
          <p:cNvSpPr/>
          <p:nvPr/>
        </p:nvSpPr>
        <p:spPr>
          <a:xfrm>
            <a:off x="5230368" y="45079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230368" y="49377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Workforce Health Score + labor forecast.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70064" y="388620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52944" y="4114800"/>
            <a:ext cx="256032" cy="256032"/>
          </a:xfrm>
          <a:prstGeom prst="ellipse">
            <a:avLst/>
          </a:prstGeom>
          <a:solidFill>
            <a:srgbClr val="00C244"/>
          </a:solidFill>
          <a:ln/>
        </p:spPr>
      </p:sp>
      <p:sp>
        <p:nvSpPr>
          <p:cNvPr id="40" name="Text 38"/>
          <p:cNvSpPr/>
          <p:nvPr/>
        </p:nvSpPr>
        <p:spPr>
          <a:xfrm>
            <a:off x="7534656" y="45079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Tax engine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534656" y="49377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Credits and incentives that pay for the seat.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674352" y="388620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857232" y="4114800"/>
            <a:ext cx="256032" cy="256032"/>
          </a:xfrm>
          <a:prstGeom prst="ellipse">
            <a:avLst/>
          </a:prstGeom>
          <a:solidFill>
            <a:srgbClr val="00C244"/>
          </a:solidFill>
          <a:ln/>
        </p:spPr>
      </p:sp>
      <p:sp>
        <p:nvSpPr>
          <p:cNvPr id="44" name="Text 42"/>
          <p:cNvSpPr/>
          <p:nvPr/>
        </p:nvSpPr>
        <p:spPr>
          <a:xfrm>
            <a:off x="9838944" y="45079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Marketplace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838944" y="49377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Accounting, banking, insurance, retirement.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AETHER  ·  CONFIDENTIAL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/ 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opening wedge — four products, one invoice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276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426464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Payroll Copilot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773936"/>
            <a:ext cx="9784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Detects anomalies before the run. Explains them in English. Proposes the fix. “Maria’s OT is 42% above baseline — likely a schedule error. Approve correction?” Hours back every week.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6207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660904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Tax Savings Engine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3008376"/>
            <a:ext cx="9784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WOTC, state hiring credits, training credits, R&amp;D payroll offsets. “You qualify for $18,400.” The software pays for itself in the first quarter for many mid-market firms.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09651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895344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On-demand pay, not loans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4242816"/>
            <a:ext cx="9784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Employer-funded liquidity pool sized by AI cash-flow forecast. Lower fees than DailyPay-class products. Sold as a recruiting benefit, not a fintech upsell.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98348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33095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5129784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Compliance that updates itself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5477256"/>
            <a:ext cx="9784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monitor of federal, state, and local changes. “New Jersey minimum wage changes in 45 days. Payroll rules updated.” The fear is the close.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AETHER  ·  CONFIDENTIAL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 / 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sits behind the wedge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Predictive labor cost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03320" y="128016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 payroll, quarterly tax, benefits trend, annual labor. “Hiring 3 technicians adds $247k all-in.” CEO dashboard, not an HR report.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47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848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Workforce Health Score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03320" y="208483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number: 87/100. Turnover risk, burnout, absenteeism, pay anomalies, comp competitiveness. Executives buy scores they can track.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16352"/>
            <a:ext cx="11247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8950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Financial wellness coach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2889504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on actual pay, withholdings, and hours — not a generic app. “Adjust withholding and save $4,200 this year.” Daily employee habit.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21024"/>
            <a:ext cx="11247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9417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Benefits optimizer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3694176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Medical, HSA, retirement allocation recommendations from household + payroll context. Quiet thousands back to employees.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425696"/>
            <a:ext cx="11247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9884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Recruiting from payroll truth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03320" y="4498848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in hours and overtime becomes a headcount forecast and a pay-range suggestion. Hiring is a module, not a separate ATS war.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5230368"/>
            <a:ext cx="11247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303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Marketplace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03320" y="530352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Accounting, banking, insurance, retirement. Network effects after the core loop is trusted. Do not launch this first.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AETHER  ·  CONFIDENTIAL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 / 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not fight ADP for the Fortune 500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88920" cy="48463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50–500 employees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Multi-state or multi-site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Hourly-heavy workforce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Owner-operated or PE-backed mid-market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2788920" cy="48463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554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1031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&amp; home care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27889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Construction &amp; trades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34747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41605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Logistics &amp; warehousing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48463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Multi-unit franchises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1371600"/>
            <a:ext cx="2788920" cy="48463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554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21031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Payroll is actually hard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27889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OT, prevailing wage, leave, union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34747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Turnover is a P&amp;L line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41605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switch in 30–90 days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48463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Incumbents under-serve verticals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235440" y="1371600"/>
            <a:ext cx="2788920" cy="48463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0" y="1554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later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18320" y="21031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&lt;20: Gusto gravity is real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418320" y="27889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500–2,000: after the score is trusted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418320" y="34747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Enterprise: partner, don’t displace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418320" y="41605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International: year 4+, not year 1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AETHER  ·  CONFIDENTIAL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 / 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Growth: employees become the sales force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88920" cy="306324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C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partners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firms in two verticals. White-glove migration. Measure hours saved, credits found, EWA take-up, NPS.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788920" cy="306324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5544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C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1874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Vertical specialists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46888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Outbound + PE/franchise networks + industry CPAs. Sell tax savings + copilot. Implementation in &lt;30 days.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2788920" cy="306324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5544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C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1874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Employee pull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246888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EWA + coach live on day one. Workers ask, “Can we switch?” This is how products spread inside shops.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235440" y="1371600"/>
            <a:ext cx="2788920" cy="306324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15544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C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418320" y="1874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Partner rails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18320" y="246888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Accountants, PEOs that want an AI layer, banks, brokers. Marketplace after the core loop is default.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11247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7731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that matches the pitch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5102352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Base: $10 PEPM all-in for payroll + copilot + compliance. Outcome layer: share of verified tax savings (example 15–20%) in year one, stepping down. EWA: employer absorbs or split-fee, always cheaper than loan-style products. No nickel-and-dime add-ons. The invoice should read like a result, not a module catalog.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AETHER  ·  CONFIDENTIAL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 / 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Honest map — do not pretend these people are asleep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0" y="1325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payroll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43400" y="1325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AI-native ops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0" y="1325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 discovery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29800" y="1325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Vertical depth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11247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28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ADP / Paychex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18288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43400" y="1828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Assist-layer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18288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29800" y="1828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Broad, not deep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5420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Gusto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25420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SMB-easy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43400" y="25420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25420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25420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29800" y="25420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SMB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25526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Rippling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560320" y="325526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43400" y="325526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Workflow, not agent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25526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Add-on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0" y="325526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29800" y="325526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System-of-record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96849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560320" y="396849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AI-first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43400" y="396849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396849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396849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29800" y="396849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companies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6817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DailyPay / Branch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560320" y="46817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343400" y="46817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09360" y="46817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046720" y="46817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829800" y="468172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EWA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11480" y="5321808"/>
            <a:ext cx="11338560" cy="658368"/>
          </a:xfrm>
          <a:prstGeom prst="roundRect">
            <a:avLst>
              <a:gd name="adj" fmla="val 8333"/>
            </a:avLst>
          </a:prstGeom>
          <a:solidFill>
            <a:srgbClr val="E7FAED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5394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Aether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560320" y="5394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enough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343400" y="5394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309360" y="5394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Employer-funded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046720" y="5394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wedge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829800" y="5394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industries first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AETHER  ·  CONFIDENTIAL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 / 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Moat is workforce intelligence — not the ACH file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276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Compensation graph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× metro × industry × tenure pay distributions that get sharper with every customer. Public salary sites cannot see actual paid wages + OT + differentials.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6276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Turnover models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26280" y="21488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who leaves from hours volatility, EWA use, comp gap, schedule instability — then intervene before the two-week notice.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16276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Labor-cost forecasts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66760" y="21488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Seasonality, census, benefits inflation, and jurisdiction mix trained on real runs. CFOs will not leave a model that has been right for eight quarters.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0050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Compliance graph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5262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living map of federal / state / local / CBA rules tied to actual time punches. Harder to copy than a chatbot on top of a rule PDF.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97680" y="37490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40050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Credit inventory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26280" y="45262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firms actually received which credits, in which states, with which documentation. Becomes a claiming engine, not a blog post.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38160" y="37490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40050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Switching gravity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6760" y="45262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EWA, coach, and score live inside the workforce, ripping Aether out feels like ripping out the bank. That is the lock.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AETHER  ·  CONFIDENTIAL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 / 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sequence — rent the rails, own the brain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Year 0–1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94560" y="1280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Partner the commodity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94960" y="128016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Payroll calculation, tax filing, and money movement via a modern rail. Do not spend the first 18 months becoming ADP’s tax engine.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Year 0–1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94560" y="2240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 the agents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94960" y="224028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Copilot, anomaly detection, compliance monitor, tax-credit scanner, labor forecast, Health Score. Human-in-the-loop on money movement.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Year 1–2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94560" y="3200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 liquidity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4960" y="320040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EWA pool with bank partner. Underwrite employer cash-flow, not employee credit. Instant pay is a benefit. No payday-loan optics.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Year 2–3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4160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 more of payroll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94960" y="41605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 calculation in-house for the five verticals once volume justifies it. Keep a filing partner until the error budget is boring.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5120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Year 3+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94560" y="5120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Marketplace + data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94960" y="512064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Third-party apps and anonymized benchmark feeds. Only after the OS is default in the wedge segment.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AETHER  ·  CONFIDENTIAL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 / 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Unit economics a mid-market firm can feel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88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361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PEPM base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payroll + copilot + compliance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788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5361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15–20%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20440" y="21031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verified tax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savings, year one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2788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5361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&lt;30 days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46520" y="21031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first live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payroll run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235440" y="1371600"/>
            <a:ext cx="2788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15361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3–6 hrs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372600" y="21031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saved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pay cycle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112471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74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Illustrative 180-employee construction firm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71800" y="38862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$21,600 / yr base  ·  vs. $35–80k all-in on quoted mid-market stacks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43068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 credits found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71800" y="430682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$18k–$60k typical if WOTC + state hiring + training apply — software is often free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727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time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71800" y="47274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3–6 hours/cycle × 26 cycles × loaded $45/hr  ≈  $3.5k–$7k recovered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5148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Turnover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971800" y="51480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avoided hourly replacement (~$8k–$15k fully loaded) pays for years of seats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55686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71800" y="556869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Recruiting and attendance lift; employer cost is float + small fee, not interest income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AETHER  ·  CONFIDENTIAL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 / 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can kill this — and the counter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00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Payroll is a trust business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2176272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missed tax deposit ends the company. Counter: partner a proven filer until error rates are boring; insurance; dual-control on money movement.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8848" y="1600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Rippling + Warp + ADP Assist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98848" y="2176272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Incumbents will ship copilots. Counter: vertical rules + tax engine + employer-funded EWA + score. Bundle, not a chatbot.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9328" y="1600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EWA regulation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39328" y="2176272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States are still writing the rules. Counter: employer-funded, no consumer credit, no payday APR. Stay on the safe side of every statute.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9776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Tax-credit policy risk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" y="4553712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WOTC has sunset history. Counter: diversified credit inventory (state, training, energy, R&amp;D payroll). Never make one credit the business.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97680" y="37490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8848" y="39776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graveyard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98848" y="4553712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HCM dies in migration. Counter: 30-day vertical playbooks, parallel-run two cycles, concierge for first 50 logos.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38160" y="37490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9328" y="39776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+ liability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39328" y="4553712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 data is the most sensitive dataset a firm has. Counter: SOC 2 from day one, least-privilege agents, audit every pay action.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SHIFT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“how much do we pay?”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“how do we run this workforce?”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particularly strong first bundle is payroll + AI compliance + earned wage access + tax-savings discovery + workforce analytics. That solves real executive pain and is a wedge into SMB and mid-market that ADP and Gusto cannot copy in a quarter.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8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Aether  ·  Payroll that runs itself.  ·  Full operating plan in the accompanying brief.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Aether — Autonomous Workforce OS</dc:title>
  <dc:subject>Concept build-out: AI Workforce Operating System</dc:subject>
  <dc:creator>Aether</dc:creator>
  <cp:lastModifiedBy>Aether</cp:lastModifiedBy>
  <cp:revision>1</cp:revision>
  <dcterms:created xsi:type="dcterms:W3CDTF">2026-08-26T10:53:27Z</dcterms:created>
  <dcterms:modified xsi:type="dcterms:W3CDTF">2026-08-26T10:53:27Z</dcterms:modified>
</cp:coreProperties>
</file>